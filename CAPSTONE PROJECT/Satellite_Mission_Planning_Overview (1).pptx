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3"/>
  </p:notesMasterIdLst>
  <p:sldIdLst>
    <p:sldId id="256" r:id="rId2"/>
    <p:sldId id="268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7" r:id="rId11"/>
    <p:sldId id="265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8/21/2026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06640" y="-338328"/>
            <a:ext cx="4023360" cy="4023360"/>
          </a:xfrm>
          <a:prstGeom prst="ellipse">
            <a:avLst/>
          </a:prstGeom>
          <a:ln w="12700">
            <a:solidFill>
              <a:srgbClr val="CADCFC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076440" y="-626110"/>
            <a:ext cx="5176520" cy="5054600"/>
          </a:xfrm>
          <a:prstGeom prst="ellipse">
            <a:avLst/>
          </a:prstGeom>
          <a:ln w="12700">
            <a:solidFill>
              <a:srgbClr val="CADCFC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92570" y="-914400"/>
            <a:ext cx="6483350" cy="6360160"/>
          </a:xfrm>
          <a:prstGeom prst="ellipse">
            <a:avLst/>
          </a:prstGeom>
          <a:ln w="12700">
            <a:solidFill>
              <a:srgbClr val="CADCFC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29800" y="1417320"/>
            <a:ext cx="201168" cy="201168"/>
          </a:xfrm>
          <a:prstGeom prst="ellipse">
            <a:avLst/>
          </a:prstGeom>
          <a:solidFill>
            <a:srgbClr val="3E6AE1"/>
          </a:solidFill>
        </p:spPr>
      </p:sp>
      <p:sp>
        <p:nvSpPr>
          <p:cNvPr id="6" name="Text 4"/>
          <p:cNvSpPr/>
          <p:nvPr/>
        </p:nvSpPr>
        <p:spPr>
          <a:xfrm>
            <a:off x="640080" y="15544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bg1"/>
                </a:solidFill>
              </a:rPr>
              <a:t>CSA0911-Java Programming</a:t>
            </a:r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8686800" cy="2468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Satellite Mission Planning</a:t>
            </a:r>
            <a:endParaRPr lang="en-US" sz="4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&amp; Ground Station</a:t>
            </a:r>
            <a:endParaRPr lang="en-US" sz="4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Management System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644525" y="5337810"/>
            <a:ext cx="11193145" cy="13328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i="1" dirty="0">
                <a:solidFill>
                  <a:schemeClr val="bg1"/>
                </a:solidFill>
              </a:rPr>
              <a:t>Presented by </a:t>
            </a:r>
          </a:p>
          <a:p>
            <a:pPr marL="0" indent="0">
              <a:buNone/>
            </a:pPr>
            <a:r>
              <a:rPr lang="en-US" sz="2600" b="1" i="1" dirty="0">
                <a:solidFill>
                  <a:schemeClr val="bg1"/>
                </a:solidFill>
              </a:rPr>
              <a:t>P Venkata Sai Pradeep Reddy ||  B Hemanth Kumar || A H N V S Vamsi </a:t>
            </a:r>
          </a:p>
          <a:p>
            <a:pPr marL="0" indent="0">
              <a:buNone/>
            </a:pPr>
            <a:endParaRPr lang="en-US" sz="2600" b="1" i="1" dirty="0">
              <a:solidFill>
                <a:schemeClr val="bg1"/>
              </a:solidFill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592455" y="4708525"/>
            <a:ext cx="6181725" cy="49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i="1" dirty="0">
                <a:solidFill>
                  <a:schemeClr val="bg1"/>
                </a:solidFill>
              </a:rPr>
              <a:t>Guided By : Dr . R. </a:t>
            </a:r>
            <a:r>
              <a:rPr lang="en-US" sz="2600" b="1" i="1">
                <a:solidFill>
                  <a:schemeClr val="bg1"/>
                </a:solidFill>
              </a:rPr>
              <a:t>Thalapathy </a:t>
            </a:r>
            <a:r>
              <a:rPr lang="en-US" sz="2600" b="1" i="1" dirty="0">
                <a:solidFill>
                  <a:schemeClr val="bg1"/>
                </a:solidFill>
              </a:rPr>
              <a:t>Rajasekaran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593592" cy="4206240"/>
          </a:xfrm>
          <a:prstGeom prst="roundRect">
            <a:avLst>
              <a:gd name="adj" fmla="val 2545"/>
            </a:avLst>
          </a:prstGeom>
          <a:solidFill>
            <a:srgbClr val="F4F6FC"/>
          </a:solidFill>
        </p:spPr>
      </p:sp>
      <p:sp>
        <p:nvSpPr>
          <p:cNvPr id="4" name="Shape 2"/>
          <p:cNvSpPr/>
          <p:nvPr/>
        </p:nvSpPr>
        <p:spPr>
          <a:xfrm>
            <a:off x="868680" y="1828800"/>
            <a:ext cx="640080" cy="640080"/>
          </a:xfrm>
          <a:prstGeom prst="ellipse">
            <a:avLst/>
          </a:prstGeom>
          <a:solidFill>
            <a:srgbClr val="3E6AE1"/>
          </a:solidFill>
        </p:spPr>
      </p:sp>
      <p:sp>
        <p:nvSpPr>
          <p:cNvPr id="5" name="Text 3"/>
          <p:cNvSpPr/>
          <p:nvPr/>
        </p:nvSpPr>
        <p:spPr>
          <a:xfrm>
            <a:off x="868680" y="182880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540" dirty="0"/>
          </a:p>
        </p:txBody>
      </p:sp>
      <p:sp>
        <p:nvSpPr>
          <p:cNvPr id="6" name="Text 4"/>
          <p:cNvSpPr/>
          <p:nvPr/>
        </p:nvSpPr>
        <p:spPr>
          <a:xfrm>
            <a:off x="868680" y="2651760"/>
            <a:ext cx="295351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Overview</a:t>
            </a:r>
          </a:p>
        </p:txBody>
      </p:sp>
      <p:sp>
        <p:nvSpPr>
          <p:cNvPr id="7" name="Text 5"/>
          <p:cNvSpPr/>
          <p:nvPr/>
        </p:nvSpPr>
        <p:spPr>
          <a:xfrm>
            <a:off x="868680" y="3154680"/>
            <a:ext cx="3274060" cy="228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000" dirty="0">
                <a:solidFill>
                  <a:srgbClr val="5B65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full-stack platform that automates satellite pass prediction, ground-station scheduling, and real-time mission monitoring for multi-satellite operations.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370832" y="1463040"/>
            <a:ext cx="3593592" cy="4206240"/>
          </a:xfrm>
          <a:prstGeom prst="roundRect">
            <a:avLst>
              <a:gd name="adj" fmla="val 2545"/>
            </a:avLst>
          </a:prstGeom>
          <a:solidFill>
            <a:srgbClr val="F4F6FC"/>
          </a:solidFill>
        </p:spPr>
      </p:sp>
      <p:sp>
        <p:nvSpPr>
          <p:cNvPr id="9" name="Shape 7"/>
          <p:cNvSpPr/>
          <p:nvPr/>
        </p:nvSpPr>
        <p:spPr>
          <a:xfrm>
            <a:off x="4690872" y="1828800"/>
            <a:ext cx="640080" cy="640080"/>
          </a:xfrm>
          <a:prstGeom prst="ellipse">
            <a:avLst/>
          </a:prstGeom>
          <a:solidFill>
            <a:srgbClr val="3E6AE1"/>
          </a:solidFill>
        </p:spPr>
      </p:sp>
      <p:sp>
        <p:nvSpPr>
          <p:cNvPr id="10" name="Text 8"/>
          <p:cNvSpPr/>
          <p:nvPr/>
        </p:nvSpPr>
        <p:spPr>
          <a:xfrm>
            <a:off x="4690872" y="182880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540" dirty="0"/>
          </a:p>
        </p:txBody>
      </p:sp>
      <p:sp>
        <p:nvSpPr>
          <p:cNvPr id="11" name="Text 9"/>
          <p:cNvSpPr/>
          <p:nvPr/>
        </p:nvSpPr>
        <p:spPr>
          <a:xfrm>
            <a:off x="4690872" y="2651760"/>
            <a:ext cx="295351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Motivation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690872" y="3154680"/>
            <a:ext cx="2953512" cy="228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5B65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Each satellite is visible to a ground station for only a few minutes per pass. As constellations grow, manual coordination can no longer keep up with competing, overlapping demands.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8193024" y="1463040"/>
            <a:ext cx="3593592" cy="4206240"/>
          </a:xfrm>
          <a:prstGeom prst="roundRect">
            <a:avLst>
              <a:gd name="adj" fmla="val 2545"/>
            </a:avLst>
          </a:prstGeom>
          <a:solidFill>
            <a:srgbClr val="F4F6FC"/>
          </a:solidFill>
        </p:spPr>
      </p:sp>
      <p:sp>
        <p:nvSpPr>
          <p:cNvPr id="14" name="Shape 12"/>
          <p:cNvSpPr/>
          <p:nvPr/>
        </p:nvSpPr>
        <p:spPr>
          <a:xfrm>
            <a:off x="8513064" y="1828800"/>
            <a:ext cx="640080" cy="640080"/>
          </a:xfrm>
          <a:prstGeom prst="ellipse">
            <a:avLst/>
          </a:prstGeom>
          <a:solidFill>
            <a:srgbClr val="3E6AE1"/>
          </a:solidFill>
        </p:spPr>
      </p:sp>
      <p:sp>
        <p:nvSpPr>
          <p:cNvPr id="15" name="Text 13"/>
          <p:cNvSpPr/>
          <p:nvPr/>
        </p:nvSpPr>
        <p:spPr>
          <a:xfrm>
            <a:off x="8513064" y="182880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540" dirty="0"/>
          </a:p>
        </p:txBody>
      </p:sp>
      <p:sp>
        <p:nvSpPr>
          <p:cNvPr id="16" name="Text 14"/>
          <p:cNvSpPr/>
          <p:nvPr/>
        </p:nvSpPr>
        <p:spPr>
          <a:xfrm>
            <a:off x="8513064" y="2651760"/>
            <a:ext cx="295351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Approach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8513064" y="3154680"/>
            <a:ext cx="2953512" cy="228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000" dirty="0">
                <a:solidFill>
                  <a:srgbClr val="5B65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Combines orbital mechanics (SGP4 pass prediction), automated conflict-free scheduling, and a live operator dashboard into one unified system.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Satellite Mission Planning &amp; Ground Station Management System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5303520" cy="2194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Satellites are only visible to a ground station for a few minutes per pass. As missions and constellations scale, multiple satellites compete for the same limited ground-station time, creating scheduling conflicts, missed telemetry windows, and inefficient resource use.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3657600"/>
            <a:ext cx="5303520" cy="594360"/>
          </a:xfrm>
          <a:prstGeom prst="roundRect">
            <a:avLst>
              <a:gd name="adj" fmla="val 12308"/>
            </a:avLst>
          </a:prstGeom>
          <a:solidFill>
            <a:srgbClr val="F4F6FC"/>
          </a:solidFill>
        </p:spPr>
      </p:sp>
      <p:sp>
        <p:nvSpPr>
          <p:cNvPr id="5" name="Text 3"/>
          <p:cNvSpPr/>
          <p:nvPr/>
        </p:nvSpPr>
        <p:spPr>
          <a:xfrm>
            <a:off x="731520" y="3657600"/>
            <a:ext cx="14630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E6AE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90 min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194560" y="3657600"/>
            <a:ext cx="35661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Typical LEO orbital period</a:t>
            </a:r>
          </a:p>
        </p:txBody>
      </p:sp>
      <p:sp>
        <p:nvSpPr>
          <p:cNvPr id="7" name="Shape 5"/>
          <p:cNvSpPr/>
          <p:nvPr/>
        </p:nvSpPr>
        <p:spPr>
          <a:xfrm>
            <a:off x="548640" y="4434840"/>
            <a:ext cx="5303520" cy="594360"/>
          </a:xfrm>
          <a:prstGeom prst="roundRect">
            <a:avLst>
              <a:gd name="adj" fmla="val 12308"/>
            </a:avLst>
          </a:prstGeom>
          <a:solidFill>
            <a:srgbClr val="F4F6FC"/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4434840"/>
            <a:ext cx="14630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E6AE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&lt; 15 min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194560" y="4434840"/>
            <a:ext cx="35661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Average pass duration per station</a:t>
            </a:r>
          </a:p>
        </p:txBody>
      </p:sp>
      <p:sp>
        <p:nvSpPr>
          <p:cNvPr id="10" name="Shape 8"/>
          <p:cNvSpPr/>
          <p:nvPr/>
        </p:nvSpPr>
        <p:spPr>
          <a:xfrm>
            <a:off x="548640" y="5212080"/>
            <a:ext cx="5303520" cy="594360"/>
          </a:xfrm>
          <a:prstGeom prst="roundRect">
            <a:avLst>
              <a:gd name="adj" fmla="val 12308"/>
            </a:avLst>
          </a:prstGeom>
          <a:solidFill>
            <a:srgbClr val="F4F6FC"/>
          </a:solidFill>
        </p:spPr>
      </p:sp>
      <p:sp>
        <p:nvSpPr>
          <p:cNvPr id="11" name="Text 9"/>
          <p:cNvSpPr/>
          <p:nvPr/>
        </p:nvSpPr>
        <p:spPr>
          <a:xfrm>
            <a:off x="731520" y="5212080"/>
            <a:ext cx="14630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E6AE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N : 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194560" y="5212080"/>
            <a:ext cx="35661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Satellites competing per ground station</a:t>
            </a:r>
          </a:p>
        </p:txBody>
      </p:sp>
      <p:sp>
        <p:nvSpPr>
          <p:cNvPr id="13" name="Shape 11"/>
          <p:cNvSpPr/>
          <p:nvPr/>
        </p:nvSpPr>
        <p:spPr>
          <a:xfrm>
            <a:off x="6263640" y="1234440"/>
            <a:ext cx="5349240" cy="4937760"/>
          </a:xfrm>
          <a:prstGeom prst="roundRect">
            <a:avLst>
              <a:gd name="adj" fmla="val 1852"/>
            </a:avLst>
          </a:prstGeom>
          <a:solidFill>
            <a:srgbClr val="1E2761"/>
          </a:solidFill>
        </p:spPr>
      </p:sp>
      <p:sp>
        <p:nvSpPr>
          <p:cNvPr id="14" name="Shape 12"/>
          <p:cNvSpPr/>
          <p:nvPr/>
        </p:nvSpPr>
        <p:spPr>
          <a:xfrm>
            <a:off x="7315200" y="2103120"/>
            <a:ext cx="3291840" cy="3291840"/>
          </a:xfrm>
          <a:prstGeom prst="ellipse">
            <a:avLst/>
          </a:prstGeom>
          <a:ln w="19050">
            <a:solidFill>
              <a:srgbClr val="CADCFC">
                <a:alpha val="7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778240" y="2331720"/>
            <a:ext cx="320040" cy="320040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16" name="Shape 14"/>
          <p:cNvSpPr/>
          <p:nvPr/>
        </p:nvSpPr>
        <p:spPr>
          <a:xfrm>
            <a:off x="10378440" y="3520440"/>
            <a:ext cx="228600" cy="228600"/>
          </a:xfrm>
          <a:prstGeom prst="ellipse">
            <a:avLst/>
          </a:prstGeom>
          <a:solidFill>
            <a:srgbClr val="3E6AE1"/>
          </a:solidFill>
        </p:spPr>
      </p:sp>
      <p:sp>
        <p:nvSpPr>
          <p:cNvPr id="17" name="Shape 15"/>
          <p:cNvSpPr/>
          <p:nvPr/>
        </p:nvSpPr>
        <p:spPr>
          <a:xfrm>
            <a:off x="7818120" y="5074920"/>
            <a:ext cx="256032" cy="256032"/>
          </a:xfrm>
          <a:prstGeom prst="ellipse">
            <a:avLst/>
          </a:prstGeom>
          <a:solidFill>
            <a:srgbClr val="F9E795"/>
          </a:solidFill>
        </p:spPr>
      </p:sp>
      <p:sp>
        <p:nvSpPr>
          <p:cNvPr id="18" name="Text 16"/>
          <p:cNvSpPr/>
          <p:nvPr/>
        </p:nvSpPr>
        <p:spPr>
          <a:xfrm>
            <a:off x="6355080" y="539496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Ground Station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509760" y="3794760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Satellite Pass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Project Objectives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593592" cy="4206240"/>
          </a:xfrm>
          <a:prstGeom prst="roundRect">
            <a:avLst>
              <a:gd name="adj" fmla="val 2545"/>
            </a:avLst>
          </a:prstGeom>
          <a:solidFill>
            <a:srgbClr val="F4F6FC"/>
          </a:solidFill>
        </p:spPr>
      </p:sp>
      <p:sp>
        <p:nvSpPr>
          <p:cNvPr id="4" name="Shape 2"/>
          <p:cNvSpPr/>
          <p:nvPr/>
        </p:nvSpPr>
        <p:spPr>
          <a:xfrm>
            <a:off x="868680" y="1828800"/>
            <a:ext cx="640080" cy="640080"/>
          </a:xfrm>
          <a:prstGeom prst="ellipse">
            <a:avLst/>
          </a:prstGeom>
          <a:solidFill>
            <a:srgbClr val="3E6AE1"/>
          </a:solidFill>
        </p:spPr>
      </p:sp>
      <p:sp>
        <p:nvSpPr>
          <p:cNvPr id="5" name="Text 3"/>
          <p:cNvSpPr/>
          <p:nvPr/>
        </p:nvSpPr>
        <p:spPr>
          <a:xfrm>
            <a:off x="868680" y="182880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540" dirty="0"/>
          </a:p>
        </p:txBody>
      </p:sp>
      <p:sp>
        <p:nvSpPr>
          <p:cNvPr id="6" name="Text 4"/>
          <p:cNvSpPr/>
          <p:nvPr/>
        </p:nvSpPr>
        <p:spPr>
          <a:xfrm>
            <a:off x="868680" y="2651760"/>
            <a:ext cx="295351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Predict</a:t>
            </a:r>
          </a:p>
        </p:txBody>
      </p:sp>
      <p:sp>
        <p:nvSpPr>
          <p:cNvPr id="7" name="Text 5"/>
          <p:cNvSpPr/>
          <p:nvPr/>
        </p:nvSpPr>
        <p:spPr>
          <a:xfrm>
            <a:off x="868680" y="3154680"/>
            <a:ext cx="3274060" cy="228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000" dirty="0">
                <a:solidFill>
                  <a:srgbClr val="5B65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Accurately compute satellite visibility windows using TLE data and the SGP4 propagation model.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370832" y="1463040"/>
            <a:ext cx="3593592" cy="4206240"/>
          </a:xfrm>
          <a:prstGeom prst="roundRect">
            <a:avLst>
              <a:gd name="adj" fmla="val 2545"/>
            </a:avLst>
          </a:prstGeom>
          <a:solidFill>
            <a:srgbClr val="F4F6FC"/>
          </a:solidFill>
        </p:spPr>
      </p:sp>
      <p:sp>
        <p:nvSpPr>
          <p:cNvPr id="9" name="Shape 7"/>
          <p:cNvSpPr/>
          <p:nvPr/>
        </p:nvSpPr>
        <p:spPr>
          <a:xfrm>
            <a:off x="4690872" y="1828800"/>
            <a:ext cx="640080" cy="640080"/>
          </a:xfrm>
          <a:prstGeom prst="ellipse">
            <a:avLst/>
          </a:prstGeom>
          <a:solidFill>
            <a:srgbClr val="3E6AE1"/>
          </a:solidFill>
        </p:spPr>
      </p:sp>
      <p:sp>
        <p:nvSpPr>
          <p:cNvPr id="10" name="Text 8"/>
          <p:cNvSpPr/>
          <p:nvPr/>
        </p:nvSpPr>
        <p:spPr>
          <a:xfrm>
            <a:off x="4690872" y="182880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540" dirty="0"/>
          </a:p>
        </p:txBody>
      </p:sp>
      <p:sp>
        <p:nvSpPr>
          <p:cNvPr id="11" name="Text 9"/>
          <p:cNvSpPr/>
          <p:nvPr/>
        </p:nvSpPr>
        <p:spPr>
          <a:xfrm>
            <a:off x="4690872" y="2651760"/>
            <a:ext cx="295351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Schedule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690872" y="3154680"/>
            <a:ext cx="2953512" cy="228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5B65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Detect and resolve ground-station conflicts when multiple missions compete for the same pass.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8193024" y="1463040"/>
            <a:ext cx="3593592" cy="4206240"/>
          </a:xfrm>
          <a:prstGeom prst="roundRect">
            <a:avLst>
              <a:gd name="adj" fmla="val 2545"/>
            </a:avLst>
          </a:prstGeom>
          <a:solidFill>
            <a:srgbClr val="F4F6FC"/>
          </a:solidFill>
        </p:spPr>
      </p:sp>
      <p:sp>
        <p:nvSpPr>
          <p:cNvPr id="14" name="Shape 12"/>
          <p:cNvSpPr/>
          <p:nvPr/>
        </p:nvSpPr>
        <p:spPr>
          <a:xfrm>
            <a:off x="8513064" y="1828800"/>
            <a:ext cx="640080" cy="640080"/>
          </a:xfrm>
          <a:prstGeom prst="ellipse">
            <a:avLst/>
          </a:prstGeom>
          <a:solidFill>
            <a:srgbClr val="3E6AE1"/>
          </a:solidFill>
        </p:spPr>
      </p:sp>
      <p:sp>
        <p:nvSpPr>
          <p:cNvPr id="15" name="Text 13"/>
          <p:cNvSpPr/>
          <p:nvPr/>
        </p:nvSpPr>
        <p:spPr>
          <a:xfrm>
            <a:off x="8513064" y="182880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540" dirty="0"/>
          </a:p>
        </p:txBody>
      </p:sp>
      <p:sp>
        <p:nvSpPr>
          <p:cNvPr id="16" name="Text 14"/>
          <p:cNvSpPr/>
          <p:nvPr/>
        </p:nvSpPr>
        <p:spPr>
          <a:xfrm>
            <a:off x="8513064" y="2651760"/>
            <a:ext cx="295351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Monitor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8513064" y="3154680"/>
            <a:ext cx="2953512" cy="228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000" dirty="0">
                <a:solidFill>
                  <a:srgbClr val="5B65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Provide a real-time dashboard for tracking active passes, telemetry, and mission history.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Satellite Mission Planning &amp; Ground Station Management System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84250"/>
            <a:ext cx="9378315" cy="3873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Three-tier architecture with a modular backend aligned to the three functional modules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3291840" cy="1371600"/>
          </a:xfrm>
          <a:prstGeom prst="roundRect">
            <a:avLst>
              <a:gd name="adj" fmla="val 6667"/>
            </a:avLst>
          </a:prstGeom>
          <a:solidFill>
            <a:srgbClr val="F9E795"/>
          </a:solidFill>
        </p:spPr>
      </p:sp>
      <p:sp>
        <p:nvSpPr>
          <p:cNvPr id="5" name="Text 3"/>
          <p:cNvSpPr/>
          <p:nvPr/>
        </p:nvSpPr>
        <p:spPr>
          <a:xfrm>
            <a:off x="822960" y="210312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Frontend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514600"/>
            <a:ext cx="32918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React + Vite</a:t>
            </a:r>
            <a:endParaRPr lang="en-US" sz="20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2000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Dashboard, Maps, Forms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114800" y="2377440"/>
            <a:ext cx="5029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617720" y="1965960"/>
            <a:ext cx="3291840" cy="1371600"/>
          </a:xfrm>
          <a:prstGeom prst="roundRect">
            <a:avLst>
              <a:gd name="adj" fmla="val 6667"/>
            </a:avLst>
          </a:prstGeom>
          <a:solidFill>
            <a:srgbClr val="3E6AE1"/>
          </a:solidFill>
        </p:spPr>
      </p:sp>
      <p:sp>
        <p:nvSpPr>
          <p:cNvPr id="9" name="Text 7"/>
          <p:cNvSpPr/>
          <p:nvPr/>
        </p:nvSpPr>
        <p:spPr>
          <a:xfrm>
            <a:off x="4617720" y="210312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Backend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617720" y="2514600"/>
            <a:ext cx="32918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Java Spring Boot</a:t>
            </a:r>
            <a:endParaRPr lang="en-US" sz="20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REST APIs, Business Logic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909560" y="2377440"/>
            <a:ext cx="5029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8412480" y="1965960"/>
            <a:ext cx="3291840" cy="1371600"/>
          </a:xfrm>
          <a:prstGeom prst="roundRect">
            <a:avLst>
              <a:gd name="adj" fmla="val 6667"/>
            </a:avLst>
          </a:prstGeom>
          <a:solidFill>
            <a:srgbClr val="97BC62"/>
          </a:solidFill>
        </p:spPr>
      </p:sp>
      <p:sp>
        <p:nvSpPr>
          <p:cNvPr id="13" name="Text 11"/>
          <p:cNvSpPr/>
          <p:nvPr/>
        </p:nvSpPr>
        <p:spPr>
          <a:xfrm>
            <a:off x="8412480" y="210312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Database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412480" y="2514600"/>
            <a:ext cx="32918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PostgreSQL</a:t>
            </a:r>
            <a:endParaRPr lang="en-US" sz="20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2000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Missions, Stations, Logs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22960" y="379476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Backend Modules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22960" y="4251960"/>
            <a:ext cx="3291840" cy="960120"/>
          </a:xfrm>
          <a:prstGeom prst="roundRect">
            <a:avLst>
              <a:gd name="adj" fmla="val 7619"/>
            </a:avLst>
          </a:prstGeom>
          <a:solidFill>
            <a:srgbClr val="2A3372"/>
          </a:solidFill>
          <a:ln w="9525">
            <a:solidFill>
              <a:srgbClr val="CADCFC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4251960"/>
            <a:ext cx="292608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Mission Planning &amp;</a:t>
            </a: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Orbit Prediction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4617720" y="4251960"/>
            <a:ext cx="3291840" cy="960120"/>
          </a:xfrm>
          <a:prstGeom prst="roundRect">
            <a:avLst>
              <a:gd name="adj" fmla="val 7619"/>
            </a:avLst>
          </a:prstGeom>
          <a:solidFill>
            <a:srgbClr val="2A3372"/>
          </a:solidFill>
          <a:ln w="9525">
            <a:solidFill>
              <a:srgbClr val="CADCFC">
                <a:alpha val="4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4251960"/>
            <a:ext cx="292608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Ground Station &amp;</a:t>
            </a: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Resource Management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8412480" y="4251960"/>
            <a:ext cx="3291840" cy="960120"/>
          </a:xfrm>
          <a:prstGeom prst="roundRect">
            <a:avLst>
              <a:gd name="adj" fmla="val 7619"/>
            </a:avLst>
          </a:prstGeom>
          <a:solidFill>
            <a:srgbClr val="2A3372"/>
          </a:solidFill>
          <a:ln w="9525">
            <a:solidFill>
              <a:srgbClr val="CADCFC">
                <a:alpha val="4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95360" y="4251960"/>
            <a:ext cx="292608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Communication,</a:t>
            </a: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&amp; Monitoring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Satellite Mission Planning &amp; Ground Station Management System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17320"/>
          </a:xfrm>
          <a:prstGeom prst="roundRect">
            <a:avLst/>
          </a:prstGeom>
          <a:solidFill>
            <a:srgbClr val="1E2761"/>
          </a:solidFill>
        </p:spPr>
      </p:sp>
      <p:sp>
        <p:nvSpPr>
          <p:cNvPr id="3" name="Shape 1"/>
          <p:cNvSpPr/>
          <p:nvPr/>
        </p:nvSpPr>
        <p:spPr>
          <a:xfrm>
            <a:off x="548640" y="320040"/>
            <a:ext cx="777240" cy="777240"/>
          </a:xfrm>
          <a:prstGeom prst="ellipse">
            <a:avLst/>
          </a:prstGeom>
          <a:solidFill>
            <a:srgbClr val="3E6AE1"/>
          </a:solidFill>
        </p:spPr>
      </p:sp>
      <p:sp>
        <p:nvSpPr>
          <p:cNvPr id="4" name="Text 2"/>
          <p:cNvSpPr/>
          <p:nvPr/>
        </p:nvSpPr>
        <p:spPr>
          <a:xfrm>
            <a:off x="548640" y="320040"/>
            <a:ext cx="7772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70" b="1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870" dirty="0"/>
          </a:p>
        </p:txBody>
      </p:sp>
      <p:sp>
        <p:nvSpPr>
          <p:cNvPr id="5" name="Text 3"/>
          <p:cNvSpPr/>
          <p:nvPr/>
        </p:nvSpPr>
        <p:spPr>
          <a:xfrm>
            <a:off x="1508760" y="320040"/>
            <a:ext cx="82296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Module 1 — Mission Planning &amp; Orbit Prediction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1676400"/>
            <a:ext cx="548640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Calculates when each satellite will be visible to a given ground station, using orbital mechanics to generate accurate pass predictions.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310896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5B65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FEATURES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3575304"/>
            <a:ext cx="128016" cy="128016"/>
          </a:xfrm>
          <a:prstGeom prst="ellipse">
            <a:avLst/>
          </a:prstGeom>
          <a:solidFill>
            <a:srgbClr val="3E6AE1"/>
          </a:solidFill>
        </p:spPr>
      </p:sp>
      <p:sp>
        <p:nvSpPr>
          <p:cNvPr id="9" name="Text 7"/>
          <p:cNvSpPr/>
          <p:nvPr/>
        </p:nvSpPr>
        <p:spPr>
          <a:xfrm>
            <a:off x="822960" y="3447288"/>
            <a:ext cx="52120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Satellite &amp; mission registration (TLE input)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548640" y="4078224"/>
            <a:ext cx="128016" cy="128016"/>
          </a:xfrm>
          <a:prstGeom prst="ellipse">
            <a:avLst/>
          </a:prstGeom>
          <a:solidFill>
            <a:srgbClr val="3E6AE1"/>
          </a:solidFill>
        </p:spPr>
      </p:sp>
      <p:sp>
        <p:nvSpPr>
          <p:cNvPr id="11" name="Text 9"/>
          <p:cNvSpPr/>
          <p:nvPr/>
        </p:nvSpPr>
        <p:spPr>
          <a:xfrm>
            <a:off x="822960" y="3950208"/>
            <a:ext cx="52120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SGP4/SDP4-based orbit propagation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548640" y="4581144"/>
            <a:ext cx="128016" cy="128016"/>
          </a:xfrm>
          <a:prstGeom prst="ellipse">
            <a:avLst/>
          </a:prstGeom>
          <a:solidFill>
            <a:srgbClr val="3E6AE1"/>
          </a:solidFill>
        </p:spPr>
      </p:sp>
      <p:sp>
        <p:nvSpPr>
          <p:cNvPr id="13" name="Text 11"/>
          <p:cNvSpPr/>
          <p:nvPr/>
        </p:nvSpPr>
        <p:spPr>
          <a:xfrm>
            <a:off x="822960" y="4453128"/>
            <a:ext cx="52120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AOS / LOS pass prediction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548640" y="5084064"/>
            <a:ext cx="128016" cy="128016"/>
          </a:xfrm>
          <a:prstGeom prst="ellipse">
            <a:avLst/>
          </a:prstGeom>
          <a:solidFill>
            <a:srgbClr val="3E6AE1"/>
          </a:solidFill>
        </p:spPr>
      </p:sp>
      <p:sp>
        <p:nvSpPr>
          <p:cNvPr id="15" name="Text 13"/>
          <p:cNvSpPr/>
          <p:nvPr/>
        </p:nvSpPr>
        <p:spPr>
          <a:xfrm>
            <a:off x="822960" y="4956048"/>
            <a:ext cx="52120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Elevation, azimuth &amp; duration calculation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548640" y="5586984"/>
            <a:ext cx="128016" cy="128016"/>
          </a:xfrm>
          <a:prstGeom prst="ellipse">
            <a:avLst/>
          </a:prstGeom>
          <a:solidFill>
            <a:srgbClr val="3E6AE1"/>
          </a:solidFill>
        </p:spPr>
      </p:sp>
      <p:sp>
        <p:nvSpPr>
          <p:cNvPr id="17" name="Text 15"/>
          <p:cNvSpPr/>
          <p:nvPr/>
        </p:nvSpPr>
        <p:spPr>
          <a:xfrm>
            <a:off x="822960" y="5458968"/>
            <a:ext cx="52120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Automated mission scheduling</a:t>
            </a: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492240" y="1783080"/>
            <a:ext cx="5120640" cy="4480560"/>
          </a:xfrm>
          <a:prstGeom prst="roundRect">
            <a:avLst>
              <a:gd name="adj" fmla="val 2041"/>
            </a:avLst>
          </a:prstGeom>
          <a:solidFill>
            <a:srgbClr val="F4F6FC"/>
          </a:solidFill>
        </p:spPr>
      </p:sp>
      <p:sp>
        <p:nvSpPr>
          <p:cNvPr id="19" name="Text 17"/>
          <p:cNvSpPr/>
          <p:nvPr/>
        </p:nvSpPr>
        <p:spPr>
          <a:xfrm>
            <a:off x="6766560" y="201168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5B65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CORE ENTITIES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766560" y="2514600"/>
            <a:ext cx="45720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3E6A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49440" y="2514600"/>
            <a:ext cx="18288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E6A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Satellite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686800" y="2514600"/>
            <a:ext cx="26517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B65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Orbital parameters, TLE data</a:t>
            </a: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6766560" y="3291840"/>
            <a:ext cx="45720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3E6A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949440" y="3291840"/>
            <a:ext cx="18288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E6A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Mission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8686800" y="3291840"/>
            <a:ext cx="2652395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5B65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Objectives, priority, frequency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6766560" y="4069080"/>
            <a:ext cx="45720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3E6A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49440" y="4069080"/>
            <a:ext cx="18288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E6A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OrbitData</a:t>
            </a:r>
          </a:p>
        </p:txBody>
      </p:sp>
      <p:sp>
        <p:nvSpPr>
          <p:cNvPr id="28" name="Text 26"/>
          <p:cNvSpPr/>
          <p:nvPr/>
        </p:nvSpPr>
        <p:spPr>
          <a:xfrm>
            <a:off x="8686800" y="4069080"/>
            <a:ext cx="2652395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5B65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Propagated position/time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6766560" y="4846320"/>
            <a:ext cx="45720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3E6A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49440" y="4846320"/>
            <a:ext cx="18288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E6A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Pass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8686800" y="4846320"/>
            <a:ext cx="264287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5B65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AOS, LOS, elevation window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17320"/>
          </a:xfrm>
          <a:prstGeom prst="roundRect">
            <a:avLst/>
          </a:prstGeom>
          <a:solidFill>
            <a:srgbClr val="1E2761"/>
          </a:solidFill>
        </p:spPr>
      </p:sp>
      <p:sp>
        <p:nvSpPr>
          <p:cNvPr id="3" name="Shape 1"/>
          <p:cNvSpPr/>
          <p:nvPr/>
        </p:nvSpPr>
        <p:spPr>
          <a:xfrm>
            <a:off x="548640" y="320040"/>
            <a:ext cx="777240" cy="777240"/>
          </a:xfrm>
          <a:prstGeom prst="ellipse">
            <a:avLst/>
          </a:prstGeom>
          <a:solidFill>
            <a:srgbClr val="97BC62"/>
          </a:solidFill>
        </p:spPr>
      </p:sp>
      <p:sp>
        <p:nvSpPr>
          <p:cNvPr id="4" name="Text 2"/>
          <p:cNvSpPr/>
          <p:nvPr/>
        </p:nvSpPr>
        <p:spPr>
          <a:xfrm>
            <a:off x="548640" y="320040"/>
            <a:ext cx="7772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70" b="1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870" dirty="0"/>
          </a:p>
        </p:txBody>
      </p:sp>
      <p:sp>
        <p:nvSpPr>
          <p:cNvPr id="5" name="Text 3"/>
          <p:cNvSpPr/>
          <p:nvPr/>
        </p:nvSpPr>
        <p:spPr>
          <a:xfrm>
            <a:off x="1508760" y="320040"/>
            <a:ext cx="82296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Module 2 — Ground Station &amp; Resource Management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548640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Manages ground-station availability and resolves conflicts when multiple satellites require the same station at overlapping times.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310896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5B65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FEATURES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3575304"/>
            <a:ext cx="128016" cy="128016"/>
          </a:xfrm>
          <a:prstGeom prst="ellipse">
            <a:avLst/>
          </a:prstGeom>
          <a:solidFill>
            <a:srgbClr val="97BC62"/>
          </a:solidFill>
        </p:spPr>
      </p:sp>
      <p:sp>
        <p:nvSpPr>
          <p:cNvPr id="9" name="Text 7"/>
          <p:cNvSpPr/>
          <p:nvPr/>
        </p:nvSpPr>
        <p:spPr>
          <a:xfrm>
            <a:off x="822960" y="3447288"/>
            <a:ext cx="52120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Ground station registry (location, antenna specs)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548640" y="4078224"/>
            <a:ext cx="128016" cy="128016"/>
          </a:xfrm>
          <a:prstGeom prst="ellipse">
            <a:avLst/>
          </a:prstGeom>
          <a:solidFill>
            <a:srgbClr val="97BC62"/>
          </a:solidFill>
        </p:spPr>
      </p:sp>
      <p:sp>
        <p:nvSpPr>
          <p:cNvPr id="11" name="Text 9"/>
          <p:cNvSpPr/>
          <p:nvPr/>
        </p:nvSpPr>
        <p:spPr>
          <a:xfrm>
            <a:off x="822960" y="3950208"/>
            <a:ext cx="52120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Resource &amp; antenna allocation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548640" y="4581144"/>
            <a:ext cx="128016" cy="128016"/>
          </a:xfrm>
          <a:prstGeom prst="ellipse">
            <a:avLst/>
          </a:prstGeom>
          <a:solidFill>
            <a:srgbClr val="97BC62"/>
          </a:solidFill>
        </p:spPr>
      </p:sp>
      <p:sp>
        <p:nvSpPr>
          <p:cNvPr id="13" name="Text 11"/>
          <p:cNvSpPr/>
          <p:nvPr/>
        </p:nvSpPr>
        <p:spPr>
          <a:xfrm>
            <a:off x="822960" y="4453128"/>
            <a:ext cx="52120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Automatic conflict detection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548640" y="5084064"/>
            <a:ext cx="128016" cy="128016"/>
          </a:xfrm>
          <a:prstGeom prst="ellipse">
            <a:avLst/>
          </a:prstGeom>
          <a:solidFill>
            <a:srgbClr val="97BC62"/>
          </a:solidFill>
        </p:spPr>
      </p:sp>
      <p:sp>
        <p:nvSpPr>
          <p:cNvPr id="15" name="Text 13"/>
          <p:cNvSpPr/>
          <p:nvPr/>
        </p:nvSpPr>
        <p:spPr>
          <a:xfrm>
            <a:off x="822960" y="4956048"/>
            <a:ext cx="52120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Priority-based / interval-scheduling resolution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548640" y="5586984"/>
            <a:ext cx="128016" cy="128016"/>
          </a:xfrm>
          <a:prstGeom prst="ellipse">
            <a:avLst/>
          </a:prstGeom>
          <a:solidFill>
            <a:srgbClr val="97BC62"/>
          </a:solidFill>
        </p:spPr>
      </p:sp>
      <p:sp>
        <p:nvSpPr>
          <p:cNvPr id="17" name="Text 15"/>
          <p:cNvSpPr/>
          <p:nvPr/>
        </p:nvSpPr>
        <p:spPr>
          <a:xfrm>
            <a:off x="822960" y="5458968"/>
            <a:ext cx="52120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Station availability &amp; maintenance calendar</a:t>
            </a: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492240" y="1783080"/>
            <a:ext cx="5120640" cy="4480560"/>
          </a:xfrm>
          <a:prstGeom prst="roundRect">
            <a:avLst>
              <a:gd name="adj" fmla="val 2041"/>
            </a:avLst>
          </a:prstGeom>
          <a:solidFill>
            <a:srgbClr val="F4F6FC"/>
          </a:solidFill>
        </p:spPr>
      </p:sp>
      <p:sp>
        <p:nvSpPr>
          <p:cNvPr id="19" name="Text 17"/>
          <p:cNvSpPr/>
          <p:nvPr/>
        </p:nvSpPr>
        <p:spPr>
          <a:xfrm>
            <a:off x="6766560" y="201168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5B65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CORE ENTITIES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766560" y="2514600"/>
            <a:ext cx="45720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49440" y="2514600"/>
            <a:ext cx="18288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97BC6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GroundStation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686800" y="2514600"/>
            <a:ext cx="2514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5B65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Location, elevation limits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6766560" y="3291840"/>
            <a:ext cx="45720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49440" y="3291840"/>
            <a:ext cx="18288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97BC6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Antenna</a:t>
            </a:r>
          </a:p>
        </p:txBody>
      </p:sp>
      <p:sp>
        <p:nvSpPr>
          <p:cNvPr id="25" name="Text 23"/>
          <p:cNvSpPr/>
          <p:nvPr/>
        </p:nvSpPr>
        <p:spPr>
          <a:xfrm>
            <a:off x="8686800" y="3291840"/>
            <a:ext cx="2514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5B65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Frequency band, capability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6766560" y="4069080"/>
            <a:ext cx="45720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49440" y="4069080"/>
            <a:ext cx="18288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97BC6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Availability</a:t>
            </a:r>
          </a:p>
        </p:txBody>
      </p:sp>
      <p:sp>
        <p:nvSpPr>
          <p:cNvPr id="28" name="Text 26"/>
          <p:cNvSpPr/>
          <p:nvPr/>
        </p:nvSpPr>
        <p:spPr>
          <a:xfrm>
            <a:off x="8686800" y="4069080"/>
            <a:ext cx="2514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5B65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Booked &amp; free time slots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6766560" y="4846320"/>
            <a:ext cx="45720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49440" y="4846320"/>
            <a:ext cx="18288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97BC6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ConflictLog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8686800" y="4846320"/>
            <a:ext cx="2514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5B65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Detected overlaps, resolution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17320"/>
          </a:xfrm>
          <a:prstGeom prst="roundRect">
            <a:avLst/>
          </a:prstGeom>
          <a:solidFill>
            <a:srgbClr val="1E2761"/>
          </a:solidFill>
        </p:spPr>
      </p:sp>
      <p:sp>
        <p:nvSpPr>
          <p:cNvPr id="3" name="Shape 1"/>
          <p:cNvSpPr/>
          <p:nvPr/>
        </p:nvSpPr>
        <p:spPr>
          <a:xfrm>
            <a:off x="548640" y="320040"/>
            <a:ext cx="777240" cy="777240"/>
          </a:xfrm>
          <a:prstGeom prst="ellipse">
            <a:avLst/>
          </a:prstGeom>
          <a:solidFill>
            <a:srgbClr val="F9E795"/>
          </a:solidFill>
        </p:spPr>
      </p:sp>
      <p:sp>
        <p:nvSpPr>
          <p:cNvPr id="4" name="Text 2"/>
          <p:cNvSpPr/>
          <p:nvPr/>
        </p:nvSpPr>
        <p:spPr>
          <a:xfrm>
            <a:off x="548640" y="320040"/>
            <a:ext cx="7772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70" b="1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870" dirty="0"/>
          </a:p>
        </p:txBody>
      </p:sp>
      <p:sp>
        <p:nvSpPr>
          <p:cNvPr id="5" name="Text 3"/>
          <p:cNvSpPr/>
          <p:nvPr/>
        </p:nvSpPr>
        <p:spPr>
          <a:xfrm>
            <a:off x="1508760" y="320040"/>
            <a:ext cx="82296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Module 3 — Communication, Data &amp; Monitoring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1661160"/>
            <a:ext cx="548640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Delivers real-time visibility into active passes, simulated telemetry, and historical mission performance through an operator dashboard.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310896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5B65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FEATURES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3575304"/>
            <a:ext cx="128016" cy="128016"/>
          </a:xfrm>
          <a:prstGeom prst="ellipse">
            <a:avLst/>
          </a:prstGeom>
          <a:solidFill>
            <a:srgbClr val="F9E795"/>
          </a:solidFill>
        </p:spPr>
      </p:sp>
      <p:sp>
        <p:nvSpPr>
          <p:cNvPr id="9" name="Text 7"/>
          <p:cNvSpPr/>
          <p:nvPr/>
        </p:nvSpPr>
        <p:spPr>
          <a:xfrm>
            <a:off x="822960" y="3447288"/>
            <a:ext cx="52120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Live pass-tracking dashboard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548640" y="4078224"/>
            <a:ext cx="128016" cy="128016"/>
          </a:xfrm>
          <a:prstGeom prst="ellipse">
            <a:avLst/>
          </a:prstGeom>
          <a:solidFill>
            <a:srgbClr val="F9E795"/>
          </a:solidFill>
        </p:spPr>
      </p:sp>
      <p:sp>
        <p:nvSpPr>
          <p:cNvPr id="11" name="Text 9"/>
          <p:cNvSpPr/>
          <p:nvPr/>
        </p:nvSpPr>
        <p:spPr>
          <a:xfrm>
            <a:off x="822960" y="3950208"/>
            <a:ext cx="52120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Simulated telemetry stream during passes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548640" y="4581144"/>
            <a:ext cx="128016" cy="128016"/>
          </a:xfrm>
          <a:prstGeom prst="ellipse">
            <a:avLst/>
          </a:prstGeom>
          <a:solidFill>
            <a:srgbClr val="F9E795"/>
          </a:solidFill>
        </p:spPr>
      </p:sp>
      <p:sp>
        <p:nvSpPr>
          <p:cNvPr id="13" name="Text 11"/>
          <p:cNvSpPr/>
          <p:nvPr/>
        </p:nvSpPr>
        <p:spPr>
          <a:xfrm>
            <a:off x="822960" y="4453128"/>
            <a:ext cx="52120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Ground-track &amp; polar plot visualization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548640" y="5084064"/>
            <a:ext cx="128016" cy="128016"/>
          </a:xfrm>
          <a:prstGeom prst="ellipse">
            <a:avLst/>
          </a:prstGeom>
          <a:solidFill>
            <a:srgbClr val="F9E795"/>
          </a:solidFill>
        </p:spPr>
      </p:sp>
      <p:sp>
        <p:nvSpPr>
          <p:cNvPr id="15" name="Text 13"/>
          <p:cNvSpPr/>
          <p:nvPr/>
        </p:nvSpPr>
        <p:spPr>
          <a:xfrm>
            <a:off x="822960" y="4956048"/>
            <a:ext cx="52120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Historical reporting &amp; station utilization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548640" y="5586984"/>
            <a:ext cx="128016" cy="128016"/>
          </a:xfrm>
          <a:prstGeom prst="ellipse">
            <a:avLst/>
          </a:prstGeom>
          <a:solidFill>
            <a:srgbClr val="F9E795"/>
          </a:solidFill>
        </p:spPr>
      </p:sp>
      <p:sp>
        <p:nvSpPr>
          <p:cNvPr id="17" name="Text 15"/>
          <p:cNvSpPr/>
          <p:nvPr/>
        </p:nvSpPr>
        <p:spPr>
          <a:xfrm>
            <a:off x="822960" y="5458968"/>
            <a:ext cx="52120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Conflict / missed-pass alerts</a:t>
            </a: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492240" y="1783080"/>
            <a:ext cx="5120640" cy="4480560"/>
          </a:xfrm>
          <a:prstGeom prst="roundRect">
            <a:avLst>
              <a:gd name="adj" fmla="val 2041"/>
            </a:avLst>
          </a:prstGeom>
          <a:solidFill>
            <a:srgbClr val="F4F6FC"/>
          </a:solidFill>
        </p:spPr>
      </p:sp>
      <p:sp>
        <p:nvSpPr>
          <p:cNvPr id="19" name="Text 17"/>
          <p:cNvSpPr/>
          <p:nvPr/>
        </p:nvSpPr>
        <p:spPr>
          <a:xfrm>
            <a:off x="6766560" y="201168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B65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CORE ENTITIES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766560" y="2514600"/>
            <a:ext cx="45720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49440" y="2514600"/>
            <a:ext cx="18288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TelemetryLog</a:t>
            </a:r>
          </a:p>
        </p:txBody>
      </p:sp>
      <p:sp>
        <p:nvSpPr>
          <p:cNvPr id="22" name="Text 20"/>
          <p:cNvSpPr/>
          <p:nvPr/>
        </p:nvSpPr>
        <p:spPr>
          <a:xfrm>
            <a:off x="8686800" y="2514600"/>
            <a:ext cx="2514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5B65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Battery, signal, temperature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6766560" y="3291840"/>
            <a:ext cx="45720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49440" y="3291840"/>
            <a:ext cx="18288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TrackingSession</a:t>
            </a:r>
          </a:p>
        </p:txBody>
      </p:sp>
      <p:sp>
        <p:nvSpPr>
          <p:cNvPr id="25" name="Text 23"/>
          <p:cNvSpPr/>
          <p:nvPr/>
        </p:nvSpPr>
        <p:spPr>
          <a:xfrm>
            <a:off x="8686800" y="3291840"/>
            <a:ext cx="2514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B65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Active pass session data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6766560" y="4069080"/>
            <a:ext cx="45720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49440" y="4069080"/>
            <a:ext cx="18288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Alert</a:t>
            </a:r>
          </a:p>
        </p:txBody>
      </p:sp>
      <p:sp>
        <p:nvSpPr>
          <p:cNvPr id="28" name="Text 26"/>
          <p:cNvSpPr/>
          <p:nvPr/>
        </p:nvSpPr>
        <p:spPr>
          <a:xfrm>
            <a:off x="8686800" y="4069080"/>
            <a:ext cx="2514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B65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Conflicts, missed passes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6766560" y="4846320"/>
            <a:ext cx="45720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49440" y="4846320"/>
            <a:ext cx="18288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Report</a:t>
            </a:r>
          </a:p>
        </p:txBody>
      </p:sp>
      <p:sp>
        <p:nvSpPr>
          <p:cNvPr id="31" name="Text 29"/>
          <p:cNvSpPr/>
          <p:nvPr/>
        </p:nvSpPr>
        <p:spPr>
          <a:xfrm>
            <a:off x="8686800" y="4846320"/>
            <a:ext cx="2514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5B65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Success rate, utilization stats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Satellite Mission Planning &amp; Ground Station Management System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Technology Stack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1064240" cy="667512"/>
          </a:xfrm>
          <a:prstGeom prst="roundRect">
            <a:avLst>
              <a:gd name="adj" fmla="val 8219"/>
            </a:avLst>
          </a:prstGeom>
          <a:solidFill>
            <a:srgbClr val="F4F6FC"/>
          </a:solidFill>
        </p:spPr>
        <p:txBody>
          <a:bodyPr/>
          <a:lstStyle/>
          <a:p>
            <a:endParaRPr lang="en-US" sz="2000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2377440" cy="6675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E6AE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Frontend</a:t>
            </a:r>
          </a:p>
        </p:txBody>
      </p:sp>
      <p:sp>
        <p:nvSpPr>
          <p:cNvPr id="5" name="Text 3"/>
          <p:cNvSpPr/>
          <p:nvPr/>
        </p:nvSpPr>
        <p:spPr>
          <a:xfrm>
            <a:off x="3291840" y="1371600"/>
            <a:ext cx="8046720" cy="6675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React + Vite + TypeScript, Leaflet / Cesium.js for map visualization</a:t>
            </a:r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11064240" cy="667512"/>
          </a:xfrm>
          <a:prstGeom prst="roundRect">
            <a:avLst>
              <a:gd name="adj" fmla="val 8219"/>
            </a:avLst>
          </a:prstGeom>
          <a:solidFill>
            <a:srgbClr val="FFFFFF"/>
          </a:solidFill>
        </p:spPr>
        <p:txBody>
          <a:bodyPr/>
          <a:lstStyle/>
          <a:p>
            <a:endParaRPr lang="en-US" sz="2000"/>
          </a:p>
        </p:txBody>
      </p:sp>
      <p:sp>
        <p:nvSpPr>
          <p:cNvPr id="7" name="Text 5"/>
          <p:cNvSpPr/>
          <p:nvPr/>
        </p:nvSpPr>
        <p:spPr>
          <a:xfrm>
            <a:off x="822960" y="2148840"/>
            <a:ext cx="2377440" cy="6675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E6AE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Backend</a:t>
            </a:r>
          </a:p>
        </p:txBody>
      </p:sp>
      <p:sp>
        <p:nvSpPr>
          <p:cNvPr id="8" name="Text 6"/>
          <p:cNvSpPr/>
          <p:nvPr/>
        </p:nvSpPr>
        <p:spPr>
          <a:xfrm>
            <a:off x="3291840" y="2148840"/>
            <a:ext cx="8046720" cy="6675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Java (Spring Boot) — REST APIs, service layer, scheduling logic</a:t>
            </a:r>
          </a:p>
        </p:txBody>
      </p:sp>
      <p:sp>
        <p:nvSpPr>
          <p:cNvPr id="9" name="Shape 7"/>
          <p:cNvSpPr/>
          <p:nvPr/>
        </p:nvSpPr>
        <p:spPr>
          <a:xfrm>
            <a:off x="548640" y="2926080"/>
            <a:ext cx="11064240" cy="667512"/>
          </a:xfrm>
          <a:prstGeom prst="roundRect">
            <a:avLst>
              <a:gd name="adj" fmla="val 8219"/>
            </a:avLst>
          </a:prstGeom>
          <a:solidFill>
            <a:srgbClr val="F4F6FC"/>
          </a:solidFill>
        </p:spPr>
      </p:sp>
      <p:sp>
        <p:nvSpPr>
          <p:cNvPr id="10" name="Text 8"/>
          <p:cNvSpPr/>
          <p:nvPr/>
        </p:nvSpPr>
        <p:spPr>
          <a:xfrm>
            <a:off x="822960" y="2926080"/>
            <a:ext cx="2377440" cy="6675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E6AE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Database</a:t>
            </a:r>
          </a:p>
        </p:txBody>
      </p:sp>
      <p:sp>
        <p:nvSpPr>
          <p:cNvPr id="11" name="Text 9"/>
          <p:cNvSpPr/>
          <p:nvPr/>
        </p:nvSpPr>
        <p:spPr>
          <a:xfrm>
            <a:off x="3291840" y="2926080"/>
            <a:ext cx="8046720" cy="6675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PostgreSQL — missions, ground stations, passes, logs</a:t>
            </a:r>
          </a:p>
        </p:txBody>
      </p:sp>
      <p:sp>
        <p:nvSpPr>
          <p:cNvPr id="12" name="Shape 10"/>
          <p:cNvSpPr/>
          <p:nvPr/>
        </p:nvSpPr>
        <p:spPr>
          <a:xfrm>
            <a:off x="548640" y="3703320"/>
            <a:ext cx="11064240" cy="667512"/>
          </a:xfrm>
          <a:prstGeom prst="roundRect">
            <a:avLst>
              <a:gd name="adj" fmla="val 8219"/>
            </a:avLst>
          </a:prstGeom>
          <a:solidFill>
            <a:srgbClr val="FFFFFF"/>
          </a:solidFill>
        </p:spPr>
      </p:sp>
      <p:sp>
        <p:nvSpPr>
          <p:cNvPr id="13" name="Text 11"/>
          <p:cNvSpPr/>
          <p:nvPr/>
        </p:nvSpPr>
        <p:spPr>
          <a:xfrm>
            <a:off x="822960" y="3703320"/>
            <a:ext cx="2377440" cy="6675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E6AE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Orbit Engine</a:t>
            </a:r>
          </a:p>
        </p:txBody>
      </p:sp>
      <p:sp>
        <p:nvSpPr>
          <p:cNvPr id="14" name="Text 12"/>
          <p:cNvSpPr/>
          <p:nvPr/>
        </p:nvSpPr>
        <p:spPr>
          <a:xfrm>
            <a:off x="3291840" y="3703320"/>
            <a:ext cx="8046720" cy="6675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SGP4/SDP4 propagation for pass prediction</a:t>
            </a:r>
          </a:p>
        </p:txBody>
      </p:sp>
      <p:sp>
        <p:nvSpPr>
          <p:cNvPr id="15" name="Shape 13"/>
          <p:cNvSpPr/>
          <p:nvPr/>
        </p:nvSpPr>
        <p:spPr>
          <a:xfrm>
            <a:off x="548640" y="4480560"/>
            <a:ext cx="11064240" cy="667512"/>
          </a:xfrm>
          <a:prstGeom prst="roundRect">
            <a:avLst>
              <a:gd name="adj" fmla="val 8219"/>
            </a:avLst>
          </a:prstGeom>
          <a:solidFill>
            <a:srgbClr val="F4F6FC"/>
          </a:solidFill>
        </p:spPr>
      </p:sp>
      <p:sp>
        <p:nvSpPr>
          <p:cNvPr id="16" name="Text 14"/>
          <p:cNvSpPr/>
          <p:nvPr/>
        </p:nvSpPr>
        <p:spPr>
          <a:xfrm>
            <a:off x="822960" y="4480560"/>
            <a:ext cx="2377440" cy="6675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E6AE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Real-time Layer</a:t>
            </a:r>
          </a:p>
        </p:txBody>
      </p:sp>
      <p:sp>
        <p:nvSpPr>
          <p:cNvPr id="17" name="Text 15"/>
          <p:cNvSpPr/>
          <p:nvPr/>
        </p:nvSpPr>
        <p:spPr>
          <a:xfrm>
            <a:off x="3291840" y="4480560"/>
            <a:ext cx="8046720" cy="6675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WebSockets for live tracking updates</a:t>
            </a:r>
          </a:p>
        </p:txBody>
      </p:sp>
      <p:sp>
        <p:nvSpPr>
          <p:cNvPr id="18" name="Shape 16"/>
          <p:cNvSpPr/>
          <p:nvPr/>
        </p:nvSpPr>
        <p:spPr>
          <a:xfrm>
            <a:off x="548640" y="5257800"/>
            <a:ext cx="11064240" cy="667512"/>
          </a:xfrm>
          <a:prstGeom prst="roundRect">
            <a:avLst>
              <a:gd name="adj" fmla="val 8219"/>
            </a:avLst>
          </a:prstGeom>
          <a:solidFill>
            <a:srgbClr val="FFFFFF"/>
          </a:solidFill>
        </p:spPr>
      </p:sp>
      <p:sp>
        <p:nvSpPr>
          <p:cNvPr id="19" name="Text 17"/>
          <p:cNvSpPr/>
          <p:nvPr/>
        </p:nvSpPr>
        <p:spPr>
          <a:xfrm>
            <a:off x="822960" y="5257800"/>
            <a:ext cx="2377440" cy="6675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E6AE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Build Tools</a:t>
            </a:r>
          </a:p>
        </p:txBody>
      </p:sp>
      <p:sp>
        <p:nvSpPr>
          <p:cNvPr id="20" name="Text 18"/>
          <p:cNvSpPr/>
          <p:nvPr/>
        </p:nvSpPr>
        <p:spPr>
          <a:xfrm>
            <a:off x="3291840" y="5257800"/>
            <a:ext cx="8046720" cy="6675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Maven (backend), npm (frontend)</a:t>
            </a:r>
          </a:p>
        </p:txBody>
      </p:sp>
      <p:sp>
        <p:nvSpPr>
          <p:cNvPr id="22" name="Text 20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5B65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21" name="Text Subtitle"/>
          <p:cNvSpPr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5B65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Turning manual, conflict-prone ground-station coordination into an automated, data-driven workflow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593592" cy="4206240"/>
          </a:xfrm>
          <a:prstGeom prst="roundRect">
            <a:avLst>
              <a:gd name="adj" fmla="val 2545"/>
            </a:avLst>
          </a:prstGeom>
          <a:solidFill>
            <a:srgbClr val="F4F6FC"/>
          </a:solidFill>
        </p:spPr>
      </p:sp>
      <p:sp>
        <p:nvSpPr>
          <p:cNvPr id="4" name="Shape 2"/>
          <p:cNvSpPr/>
          <p:nvPr/>
        </p:nvSpPr>
        <p:spPr>
          <a:xfrm>
            <a:off x="868680" y="1828800"/>
            <a:ext cx="640080" cy="640080"/>
          </a:xfrm>
          <a:prstGeom prst="ellipse">
            <a:avLst/>
          </a:prstGeom>
          <a:solidFill>
            <a:srgbClr val="3E6AE1"/>
          </a:solidFill>
        </p:spPr>
      </p:sp>
      <p:sp>
        <p:nvSpPr>
          <p:cNvPr id="5" name="Text 3"/>
          <p:cNvSpPr/>
          <p:nvPr/>
        </p:nvSpPr>
        <p:spPr>
          <a:xfrm>
            <a:off x="868680" y="182880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540" dirty="0"/>
          </a:p>
        </p:txBody>
      </p:sp>
      <p:sp>
        <p:nvSpPr>
          <p:cNvPr id="6" name="Text 4"/>
          <p:cNvSpPr/>
          <p:nvPr/>
        </p:nvSpPr>
        <p:spPr>
          <a:xfrm>
            <a:off x="868680" y="2651760"/>
            <a:ext cx="295351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Unified System</a:t>
            </a:r>
          </a:p>
        </p:txBody>
      </p:sp>
      <p:sp>
        <p:nvSpPr>
          <p:cNvPr id="7" name="Text 5"/>
          <p:cNvSpPr/>
          <p:nvPr/>
        </p:nvSpPr>
        <p:spPr>
          <a:xfrm>
            <a:off x="868680" y="3154680"/>
            <a:ext cx="3274060" cy="228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000" dirty="0">
                <a:solidFill>
                  <a:srgbClr val="5B65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Brings orbit prediction, ground-station scheduling, and mission monitoring together into one platform.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370832" y="1463040"/>
            <a:ext cx="3593592" cy="4206240"/>
          </a:xfrm>
          <a:prstGeom prst="roundRect">
            <a:avLst>
              <a:gd name="adj" fmla="val 2545"/>
            </a:avLst>
          </a:prstGeom>
          <a:solidFill>
            <a:srgbClr val="F4F6FC"/>
          </a:solidFill>
        </p:spPr>
      </p:sp>
      <p:sp>
        <p:nvSpPr>
          <p:cNvPr id="9" name="Shape 7"/>
          <p:cNvSpPr/>
          <p:nvPr/>
        </p:nvSpPr>
        <p:spPr>
          <a:xfrm>
            <a:off x="4690872" y="1828800"/>
            <a:ext cx="640080" cy="640080"/>
          </a:xfrm>
          <a:prstGeom prst="ellipse">
            <a:avLst/>
          </a:prstGeom>
          <a:solidFill>
            <a:srgbClr val="3E6AE1"/>
          </a:solidFill>
        </p:spPr>
      </p:sp>
      <p:sp>
        <p:nvSpPr>
          <p:cNvPr id="10" name="Text 8"/>
          <p:cNvSpPr/>
          <p:nvPr/>
        </p:nvSpPr>
        <p:spPr>
          <a:xfrm>
            <a:off x="4690872" y="182880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540" dirty="0"/>
          </a:p>
        </p:txBody>
      </p:sp>
      <p:sp>
        <p:nvSpPr>
          <p:cNvPr id="11" name="Text 9"/>
          <p:cNvSpPr/>
          <p:nvPr/>
        </p:nvSpPr>
        <p:spPr>
          <a:xfrm>
            <a:off x="4690872" y="2651760"/>
            <a:ext cx="295351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Reliable Scheduling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690872" y="3154680"/>
            <a:ext cx="2953512" cy="228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5B65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Automated, priority-based conflict resolution replaces manual coordination between competing missions.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8193024" y="1463040"/>
            <a:ext cx="3593592" cy="4206240"/>
          </a:xfrm>
          <a:prstGeom prst="roundRect">
            <a:avLst>
              <a:gd name="adj" fmla="val 2545"/>
            </a:avLst>
          </a:prstGeom>
          <a:solidFill>
            <a:srgbClr val="F4F6FC"/>
          </a:solidFill>
        </p:spPr>
      </p:sp>
      <p:sp>
        <p:nvSpPr>
          <p:cNvPr id="14" name="Shape 12"/>
          <p:cNvSpPr/>
          <p:nvPr/>
        </p:nvSpPr>
        <p:spPr>
          <a:xfrm>
            <a:off x="8513064" y="1828800"/>
            <a:ext cx="640080" cy="640080"/>
          </a:xfrm>
          <a:prstGeom prst="ellipse">
            <a:avLst/>
          </a:prstGeom>
          <a:solidFill>
            <a:srgbClr val="3E6AE1"/>
          </a:solidFill>
        </p:spPr>
      </p:sp>
      <p:sp>
        <p:nvSpPr>
          <p:cNvPr id="15" name="Text 13"/>
          <p:cNvSpPr/>
          <p:nvPr/>
        </p:nvSpPr>
        <p:spPr>
          <a:xfrm>
            <a:off x="8513064" y="182880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540" dirty="0"/>
          </a:p>
        </p:txBody>
      </p:sp>
      <p:sp>
        <p:nvSpPr>
          <p:cNvPr id="16" name="Text 14"/>
          <p:cNvSpPr/>
          <p:nvPr/>
        </p:nvSpPr>
        <p:spPr>
          <a:xfrm>
            <a:off x="8513064" y="2651760"/>
            <a:ext cx="295351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Operational Insight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8513064" y="3154680"/>
            <a:ext cx="2953512" cy="228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000" dirty="0">
                <a:solidFill>
                  <a:srgbClr val="5B65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Live dashboards and historical reports give operators clear visibility into every pass and station.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Satellite Mission Planning &amp; Ground Station Management System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480560"/>
            <a:ext cx="3657600" cy="3657600"/>
          </a:xfrm>
          <a:prstGeom prst="ellipse">
            <a:avLst/>
          </a:prstGeom>
          <a:ln w="12700">
            <a:solidFill>
              <a:srgbClr val="CADCFC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228600" y="3703320"/>
            <a:ext cx="5212080" cy="5212080"/>
          </a:xfrm>
          <a:prstGeom prst="ellipse">
            <a:avLst/>
          </a:prstGeom>
          <a:ln w="12700">
            <a:solidFill>
              <a:srgbClr val="CADCFC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005840" y="2926080"/>
            <a:ext cx="6766560" cy="6766560"/>
          </a:xfrm>
          <a:prstGeom prst="ellipse">
            <a:avLst/>
          </a:prstGeom>
          <a:ln w="12700">
            <a:solidFill>
              <a:srgbClr val="CADCFC">
                <a:alpha val="2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2651760"/>
            <a:ext cx="12188952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Thank You</a:t>
            </a:r>
            <a:endParaRPr lang="en-US" sz="4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731</Words>
  <Application>Microsoft Office PowerPoint</Application>
  <PresentationFormat>Widescreen</PresentationFormat>
  <Paragraphs>159</Paragraphs>
  <Slides>11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 Hemanth kumar</cp:lastModifiedBy>
  <cp:revision>12</cp:revision>
  <dcterms:created xsi:type="dcterms:W3CDTF">2026-08-04T14:31:00Z</dcterms:created>
  <dcterms:modified xsi:type="dcterms:W3CDTF">2026-08-21T08:58:11Z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F1A8DE37795340E9A761ED7E01EA4B98_13</vt:lpwstr>
  </property>
</Properties>
</file>